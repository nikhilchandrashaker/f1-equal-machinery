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40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1800"/>
            <a:ext cx="10566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440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4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01800"/>
            <a:ext cx="105664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88633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800" b="1" i="0" dirty="0">
                <a:solidFill>
                  <a:srgbClr val="ECEF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Equal-Machinery F1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12800" y="3560233"/>
            <a:ext cx="10883392" cy="44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CC2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214 drivers, one identical car, 100 simulated seasons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12800" y="4186767"/>
            <a:ext cx="108833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2A3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Nikhil Chandrashaker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One car for every driver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15975" y="1654175"/>
            <a:ext cx="3380317" cy="1788583"/>
          </a:xfrm>
          <a:prstGeom prst="roundRect">
            <a:avLst>
              <a:gd name="adj" fmla="val 5503"/>
            </a:avLst>
          </a:prstGeom>
          <a:solidFill>
            <a:srgbClr val="F7F9FA"/>
          </a:solidFill>
          <a:ln w="6350">
            <a:solidFill>
              <a:srgbClr val="D3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5267" y="1913467"/>
            <a:ext cx="294758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A6C7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214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75267" y="2624667"/>
            <a:ext cx="29475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drivers from F1 history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42" y="1654175"/>
            <a:ext cx="3380317" cy="1788583"/>
          </a:xfrm>
          <a:prstGeom prst="roundRect">
            <a:avLst>
              <a:gd name="adj" fmla="val 5503"/>
            </a:avLst>
          </a:prstGeom>
          <a:solidFill>
            <a:srgbClr val="F7F9FA"/>
          </a:solidFill>
          <a:ln w="6350">
            <a:solidFill>
              <a:srgbClr val="D3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5133" y="1913467"/>
            <a:ext cx="294758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A6C7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665133" y="2624667"/>
            <a:ext cx="29475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 (EM-01) with identical specs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709" y="1654175"/>
            <a:ext cx="3380317" cy="1788583"/>
          </a:xfrm>
          <a:prstGeom prst="roundRect">
            <a:avLst>
              <a:gd name="adj" fmla="val 5503"/>
            </a:avLst>
          </a:prstGeom>
          <a:solidFill>
            <a:srgbClr val="F7F9FA"/>
          </a:solidFill>
          <a:ln w="6350">
            <a:solidFill>
              <a:srgbClr val="D3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5000" y="1913467"/>
            <a:ext cx="294758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A6C74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2,400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55000" y="2624667"/>
            <a:ext cx="294758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races: 24 per season, 100 seasons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699934"/>
            <a:ext cx="9156700" cy="65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Driver ratings are the only systematic difference between entries. The ratings are provisional modeled estimates, so results describe the model, not history.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9934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a race is simulated</a:t>
            </a:r>
            <a:endParaRPr lang="en-US" sz="4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63700"/>
          <a:ext cx="10553700" cy="3200400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B6B7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Stage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B6B78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What the model does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D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Qualifying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One lap, scaled by qualifying pace plus noise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Tires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Soft and hard compounds that wear at different rates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Pit stops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One planned stop, 21 s lost, cheaper under a safety car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Safety cars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Triggered by incidents, gaps capped at 0.5 s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Traffic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Time lost within one second of the car ahead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Reliability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202B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Equal mechanical risk, driver errors by rating</a:t>
                      </a:r>
                      <a:endParaRPr lang="en-US" sz="15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9934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ECEF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Skill wins often, not always</a:t>
            </a:r>
            <a:endParaRPr lang="en-US" sz="4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63700"/>
          <a:ext cx="10553700" cy="1970617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92654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92A3B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Field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92A3B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Best-rated driver wins title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92A3B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Champions in 100 seasons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3B"/>
                    </a:solidFill>
                  </a:tcPr>
                </a:tc>
              </a:tr>
              <a:tr h="492654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Random 20 drivers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71%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33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54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Top 20 drivers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18%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7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654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All 214 drivers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14%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ECEFF2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</a:t>
                      </a:r>
                      <a:endParaRPr lang="en-US" sz="17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88318"/>
            <a:ext cx="10883392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4CC2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Race pace rating vs average points: Spearman 0.975 over 100 all-driver seasons.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12800" y="6239935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2A3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Titles in 100 all-driver seasons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1651000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Ayrton Senna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505200" y="1667935"/>
            <a:ext cx="54864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1651000"/>
            <a:ext cx="257969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002368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Michael Schumacher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5200" y="2019300"/>
            <a:ext cx="41148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2002368"/>
            <a:ext cx="216826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2353735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Jim Clark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05200" y="2370668"/>
            <a:ext cx="36576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2353735"/>
            <a:ext cx="215635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2705100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Lewis Hamilton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05200" y="2722035"/>
            <a:ext cx="34290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705100"/>
            <a:ext cx="21550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056468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Juan Manuel Fangio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05200" y="3073400"/>
            <a:ext cx="32004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056468"/>
            <a:ext cx="222515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407835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Max Verstappen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05200" y="3424768"/>
            <a:ext cx="13716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407835"/>
            <a:ext cx="14896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3759200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Alain Prost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05200" y="3776135"/>
            <a:ext cx="6858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759200"/>
            <a:ext cx="14896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4110568"/>
            <a:ext cx="26162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Sebastian Vettel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05200" y="4127500"/>
            <a:ext cx="457200" cy="228600"/>
          </a:xfrm>
          <a:prstGeom prst="roundRect">
            <a:avLst>
              <a:gd name="adj" fmla="val 11111"/>
            </a:avLst>
          </a:prstGeom>
          <a:solidFill>
            <a:srgbClr val="0A6C74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4110568"/>
            <a:ext cx="152929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2800" y="6239935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ECEF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More variability, fewer predictable champions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2800" y="1651000"/>
            <a:ext cx="348826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dirty="0">
                <a:solidFill>
                  <a:srgbClr val="F0B42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82%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2768600"/>
            <a:ext cx="3488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CEF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 variability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02667" y="1651000"/>
            <a:ext cx="348826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dirty="0">
                <a:solidFill>
                  <a:srgbClr val="F0B42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71%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402667" y="2768600"/>
            <a:ext cx="3488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CEF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realistic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92534" y="1651000"/>
            <a:ext cx="3488267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000" b="1" dirty="0">
                <a:solidFill>
                  <a:srgbClr val="F0B42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55%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992534" y="2768600"/>
            <a:ext cx="34882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CEF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 variability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302000"/>
            <a:ext cx="9810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CEF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Share of seasons won by the best-rated driver in a random 20-car field. Pit stops and safety cars changed title odds by less than the margin of error (73.5% vs 77.5% without safety cars, about 3 points of noise).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9935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2A3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400" b="1" i="0" dirty="0">
                <a:solidFill>
                  <a:srgbClr val="1420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Limits and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15975" y="1654175"/>
            <a:ext cx="5175250" cy="2067983"/>
          </a:xfrm>
          <a:prstGeom prst="roundRect">
            <a:avLst>
              <a:gd name="adj" fmla="val 4759"/>
            </a:avLst>
          </a:prstGeom>
          <a:solidFill>
            <a:srgbClr val="F7F9FA"/>
          </a:solidFill>
          <a:ln w="6350">
            <a:solidFill>
              <a:srgbClr val="D3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5267" y="1913468"/>
            <a:ext cx="47963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A6C7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9275" y="2345268"/>
            <a:ext cx="47247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Ratings are provisional estimates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Lap times are additive deltas, not vehicle physics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Generic circuits, no real calendar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Failure and incident rates set by hand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00775" y="1654175"/>
            <a:ext cx="5175250" cy="2067983"/>
          </a:xfrm>
          <a:prstGeom prst="roundRect">
            <a:avLst>
              <a:gd name="adj" fmla="val 4759"/>
            </a:avLst>
          </a:prstGeom>
          <a:solidFill>
            <a:srgbClr val="F7F9FA"/>
          </a:solidFill>
          <a:ln w="6350">
            <a:solidFill>
              <a:srgbClr val="D3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0067" y="1913468"/>
            <a:ext cx="47963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A6C7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24075" y="2345268"/>
            <a:ext cx="472473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Fit ratings to real results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explicit overtaking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Calibrate reliability to history</a:t>
            </a:r>
            <a:endParaRPr lang="en-US" sz="1600" dirty="0"/>
          </a:p>
          <a:p>
            <a:pPr algn="l" marL="189992" indent="-1899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4202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 more seasons for small effects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6239935"/>
            <a:ext cx="3032284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Equal-Machinery F1 | EM-SIM engine v2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qual-Machinery F1: 214 drivers, one car">
  <a:themeElements>
    <a:clrScheme name="Equal-Machinery F1: 214 drivers, one car">
      <a:dk1>
        <a:srgbClr val="14202B"/>
      </a:dk1>
      <a:lt1>
        <a:srgbClr val="ECEFF2"/>
      </a:lt1>
      <a:dk2>
        <a:srgbClr val="4A545D"/>
      </a:dk2>
      <a:lt2>
        <a:srgbClr val="D6DADE"/>
      </a:lt2>
      <a:accent1>
        <a:srgbClr val="0A6C74"/>
      </a:accent1>
      <a:accent2>
        <a:srgbClr val="F0B429"/>
      </a:accent2>
      <a:accent3>
        <a:srgbClr val="4CC2CC"/>
      </a:accent3>
      <a:accent4>
        <a:srgbClr val="5B6B78"/>
      </a:accent4>
      <a:accent5>
        <a:srgbClr val="92A3B0"/>
      </a:accent5>
      <a:accent6>
        <a:srgbClr val="9AA0A6"/>
      </a:accent6>
      <a:hlink>
        <a:srgbClr val="0563C1"/>
      </a:hlink>
      <a:folHlink>
        <a:srgbClr val="954F72"/>
      </a:folHlink>
    </a:clrScheme>
    <a:fontScheme name="Equal-Machinery F1: 214 drivers, one car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Equal-Machinery F1: 214 drivers, one car</dc:title>
  <dc:subject/>
  <dc:creator/>
  <cp:lastModifiedBy/>
  <cp:revision>1</cp:revision>
  <dcterms:created xsi:type="dcterms:W3CDTF">2026-10-11T03:44:39Z</dcterms:created>
  <dcterms:modified xsi:type="dcterms:W3CDTF">2026-10-11T03:44:39Z</dcterms:modified>
</cp:coreProperties>
</file>